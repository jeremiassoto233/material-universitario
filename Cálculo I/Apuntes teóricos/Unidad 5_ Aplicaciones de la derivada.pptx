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8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78755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710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8754452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028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84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469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535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7424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9428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493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54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1F0CFAF-98E4-40E7-8D31-3B43B90CE2A6}" type="datetimeFigureOut">
              <a:rPr lang="es-AR" smtClean="0"/>
              <a:t>17/05/2026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0FDE4B3-6AF9-4494-B970-1565E77E5371}" type="slidenum">
              <a:rPr lang="es-AR" smtClean="0"/>
              <a:t>‹Nº›</a:t>
            </a:fld>
            <a:endParaRPr lang="es-AR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235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32B8F-2A04-4889-866A-3FA153EED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6" y="2147613"/>
            <a:ext cx="8361229" cy="2098226"/>
          </a:xfrm>
        </p:spPr>
        <p:txBody>
          <a:bodyPr/>
          <a:lstStyle/>
          <a:p>
            <a:r>
              <a:rPr lang="es-AR" dirty="0"/>
              <a:t>UNIDAD 5:</a:t>
            </a:r>
            <a:br>
              <a:rPr lang="es-AR" dirty="0"/>
            </a:br>
            <a:r>
              <a:rPr lang="es-AR" dirty="0"/>
              <a:t>Aplicaciones de la Derivada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DD76A0-E5C8-47CA-BE7F-0723DDAA7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5" y="4245839"/>
            <a:ext cx="6831673" cy="1606321"/>
          </a:xfrm>
        </p:spPr>
        <p:txBody>
          <a:bodyPr>
            <a:normAutofit lnSpcReduction="10000"/>
          </a:bodyPr>
          <a:lstStyle/>
          <a:p>
            <a:r>
              <a:rPr lang="es-AR" dirty="0"/>
              <a:t>Matemática</a:t>
            </a:r>
          </a:p>
          <a:p>
            <a:r>
              <a:rPr lang="es-AR" dirty="0"/>
              <a:t>1er año</a:t>
            </a:r>
          </a:p>
          <a:p>
            <a:r>
              <a:rPr lang="es-AR" dirty="0"/>
              <a:t>Soto Jeremías</a:t>
            </a:r>
          </a:p>
          <a:p>
            <a:r>
              <a:rPr lang="es-AR" dirty="0"/>
              <a:t>Año 2026</a:t>
            </a:r>
          </a:p>
        </p:txBody>
      </p:sp>
    </p:spTree>
    <p:extLst>
      <p:ext uri="{BB962C8B-B14F-4D97-AF65-F5344CB8AC3E}">
        <p14:creationId xmlns:p14="http://schemas.microsoft.com/office/powerpoint/2010/main" val="2224489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EC05A-574B-4E00-A3FD-A8FA0214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Aproximación lineal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CE9A4CC-3F3A-4191-94B6-C5FBEEBBB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83080"/>
                <a:ext cx="9601200" cy="4084320"/>
              </a:xfrm>
            </p:spPr>
            <p:txBody>
              <a:bodyPr/>
              <a:lstStyle/>
              <a:p>
                <a:r>
                  <a:rPr lang="es-AR" dirty="0"/>
                  <a:t>Se utiliza la recta tangente en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AR" dirty="0"/>
                  <a:t> como una aproximación lineal a una curva y=f(x) cuando x esta cerca de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s-AR" dirty="0"/>
                  <a:t>:</a:t>
                </a:r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  <a:p>
                <a:r>
                  <a:rPr lang="es-AR" dirty="0"/>
                  <a:t>A la función lineal que es la recta tangente se lo llama como </a:t>
                </a:r>
                <a:r>
                  <a:rPr lang="es-AR" b="1" dirty="0">
                    <a:solidFill>
                      <a:srgbClr val="FF0000"/>
                    </a:solidFill>
                  </a:rPr>
                  <a:t>linealización de f en a</a:t>
                </a:r>
                <a:r>
                  <a:rPr lang="es-AR" dirty="0"/>
                  <a:t>:</a:t>
                </a:r>
              </a:p>
              <a:p>
                <a:endParaRPr lang="es-AR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CE9A4CC-3F3A-4191-94B6-C5FBEEBBB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83080"/>
                <a:ext cx="9601200" cy="4084320"/>
              </a:xfrm>
              <a:blipFill>
                <a:blip r:embed="rId2"/>
                <a:stretch>
                  <a:fillRect l="-571" t="-13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CD6C70AF-C83F-40B5-A1A9-67555896B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615" y="2308860"/>
            <a:ext cx="2804769" cy="52292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2EC6226-5130-4651-8E87-25A5D0732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396" y="2996566"/>
            <a:ext cx="4545208" cy="117443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DB143F-0D42-40F4-89D2-A2A01C725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075" y="4858705"/>
            <a:ext cx="5623849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74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F308D-D0F2-437C-B2F3-1BF178D4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8AE34B-2437-4F40-AB2C-014769A2D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280160"/>
            <a:ext cx="6096000" cy="32004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FC605D8-BD73-429F-980D-93E8EEF2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860" y="4480560"/>
            <a:ext cx="681228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45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55365-1CE5-4FD6-9E1A-50637DC50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Diferenciales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C3EBF5A-1A3F-4985-959E-F925DFC55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7768" y="1508397"/>
            <a:ext cx="2176463" cy="6633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F387EE-6FCE-434A-B493-0DEA65087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667" y="1684383"/>
            <a:ext cx="1856740" cy="9829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339E71-477B-4466-BF96-8D401986B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169" y="1798140"/>
            <a:ext cx="3979812" cy="66330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BC9C47-8D51-42E2-BE67-E39556E377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119" y="2751183"/>
            <a:ext cx="4328161" cy="343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311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EAD25-5D85-4F66-865B-9C1E07F1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Características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A0AD13-39C4-440A-93E9-5AD982BD2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752600"/>
                <a:ext cx="9601200" cy="4114800"/>
              </a:xfrm>
            </p:spPr>
            <p:txBody>
              <a:bodyPr/>
              <a:lstStyle/>
              <a:p>
                <a:r>
                  <a:rPr lang="es-AR" dirty="0"/>
                  <a:t>Variable independiente </a:t>
                </a:r>
                <a14:m>
                  <m:oMath xmlns:m="http://schemas.openxmlformats.org/officeDocument/2006/math">
                    <m:r>
                      <a:rPr lang="es-AR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s-A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AR" dirty="0"/>
                  <a:t> Es un pequeño cambio en la variable x</a:t>
                </a:r>
              </a:p>
              <a:p>
                <a:r>
                  <a:rPr lang="es-AR" dirty="0"/>
                  <a:t>Variable dependiente </a:t>
                </a:r>
                <a14:m>
                  <m:oMath xmlns:m="http://schemas.openxmlformats.org/officeDocument/2006/math">
                    <m:r>
                      <a:rPr lang="es-AR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AR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AR" dirty="0"/>
                  <a:t> Es el cambio aproximado que sufre la función (la y) como consecuencia del cambio en x</a:t>
                </a:r>
              </a:p>
              <a:p>
                <a:r>
                  <a:rPr lang="es-AR" dirty="0"/>
                  <a:t>Estima cambios de un valor a otro en la función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8A0AD13-39C4-440A-93E9-5AD982BD2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752600"/>
                <a:ext cx="9601200" cy="4114800"/>
              </a:xfrm>
              <a:blipFill>
                <a:blip r:embed="rId2"/>
                <a:stretch>
                  <a:fillRect l="-571" t="-1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77A2BC61-F589-4AA5-8353-92AE8FFA9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2307" y="3428126"/>
            <a:ext cx="5899785" cy="342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6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2469C-85B9-4911-AD77-AC02B2A81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Valores máximos y mínimos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E6EF74-9E6D-4843-8265-BD6F5EC51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5000"/>
            <a:ext cx="9601200" cy="3962400"/>
          </a:xfrm>
        </p:spPr>
        <p:txBody>
          <a:bodyPr/>
          <a:lstStyle/>
          <a:p>
            <a:r>
              <a:rPr lang="es-AR" dirty="0"/>
              <a:t>Absolutos:</a:t>
            </a:r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Locales: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78658C-C025-4A0B-8ADE-199D5D58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844" y="2250757"/>
            <a:ext cx="7606712" cy="16354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4CCB80-6466-45CD-97AC-38042FDE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292" y="4686301"/>
            <a:ext cx="7897815" cy="154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8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6BFD9BB-DA7E-4510-9F19-7C36E3CA4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24" y="0"/>
            <a:ext cx="4410552" cy="309978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611159-9367-45D0-9AD8-0782264D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61" y="3199098"/>
            <a:ext cx="7113878" cy="111823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FB4D830-1900-4CE1-B7A1-17BEA98B33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499" y="4416646"/>
            <a:ext cx="8173001" cy="191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2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40A35-21B0-461F-ACB3-6915CB51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Teorema de Fermat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546C64D-0073-4AE3-8E5C-297C2D49C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6571" y="1681480"/>
            <a:ext cx="7991258" cy="9804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54896BB-F3B5-41AB-B9B2-C8F5699F5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331" y="2677161"/>
            <a:ext cx="8361744" cy="98043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2371E62-11EF-4160-AD59-2127D2784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712" y="3972559"/>
            <a:ext cx="8142117" cy="117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85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F4271-6F39-44BC-A682-5B278A0B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¿Como encontrar valores máximos o mínimos?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6D21E280-FEBB-4489-AB06-2B01348A1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810" y="2288380"/>
            <a:ext cx="9066379" cy="275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89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7DB34-731C-4F3C-BD0E-00AD6EE5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013A6C-D499-4209-A64C-260DA36BF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2" y="1352550"/>
            <a:ext cx="802957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51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29260-F914-4456-979B-C93DCDCE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Teorema de Rolle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8E9B3061-14FE-4BD8-9D16-C70E3535A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6080" y="1487804"/>
            <a:ext cx="8272240" cy="211264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7945B0E-E8E5-4CB9-A9B4-BBE4CC47C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07" y="4179572"/>
            <a:ext cx="10950120" cy="194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3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0B525-9401-44CF-850F-117854E0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21B052-FC7F-4939-BFA0-E83BEBAE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062" y="1481137"/>
            <a:ext cx="81438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56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21D52-2BFE-4F27-8390-A7E450A0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Teorema del valor medio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8BCFBC0-5111-4A96-8EFE-414C4D644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1741" y="1413986"/>
            <a:ext cx="7108518" cy="30634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66AAFCA-BD78-40CE-BC0E-B1EABB164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901" y="4477390"/>
            <a:ext cx="6316198" cy="224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036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1E0D2-0808-4391-88EB-D1B8EFB6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54312D-518B-470E-B9A6-2B3BE3563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41" y="1433512"/>
            <a:ext cx="7730118" cy="477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11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C90DBA-D03E-4476-91C5-A856EBBA4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Función derivada respecto a la función original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9FD6F32-F636-44FC-912D-F2B1142CA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230" y="2171700"/>
            <a:ext cx="7749540" cy="12915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C0043BB-03E6-4AAE-B678-4DAA902AE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9131" y="3544011"/>
            <a:ext cx="3386138" cy="281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5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EF9046A-D742-4594-AB1C-277E93482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49" y="816292"/>
            <a:ext cx="7937502" cy="22621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F83DC1F-871A-40EA-ADB4-B4607F56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169" y="3429000"/>
            <a:ext cx="10491662" cy="226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35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22605-70DC-43A2-9AAA-B6C98F94D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6343FC-9506-4959-AF6A-5017BEE2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801" y="1398270"/>
            <a:ext cx="8036397" cy="463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03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47AB1-B48C-4C2B-A83A-E3424572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Segunda derivada respecto a la función original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62740C8-6417-414D-9B4A-8657C092D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9572" y="1947385"/>
            <a:ext cx="7505255" cy="18259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DFE925-1D61-4AC4-B779-4E5B1AE4E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567" y="3997643"/>
            <a:ext cx="3127789" cy="277591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64C674A-D6A3-4310-8681-D25F9DB1E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645" y="3997643"/>
            <a:ext cx="3004182" cy="267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13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82D670A-4229-46BD-816E-EDEFFD2F3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805" y="276224"/>
            <a:ext cx="8676389" cy="12477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3660F22-F261-45B4-A145-0DCFEF52F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112" y="1765935"/>
            <a:ext cx="7943776" cy="137922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6152436-902C-447A-81B5-24AA82AE3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286" y="3429000"/>
            <a:ext cx="3791427" cy="294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396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731DC-0E7A-49EA-899B-BC34D132F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8F2E68-FEE1-480B-8019-DD9CC8F4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870" y="1430655"/>
            <a:ext cx="8732260" cy="47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397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E3638-192C-46E1-B6A0-FCCEFF45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Regla L’Hopital e indeterminaciones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1FDFCFA-7559-48E3-AF2B-42BEBF635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7371" y="1651714"/>
            <a:ext cx="7509657" cy="355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24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FC0CA-A8EC-434E-B9F5-108BFC93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C7B17C-2DE7-4135-A6DE-4AB90AD7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308" y="1614487"/>
            <a:ext cx="7683383" cy="42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9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C6F847-279D-44D6-B3FC-CD7075E28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41960"/>
            <a:ext cx="9601200" cy="5425440"/>
          </a:xfrm>
        </p:spPr>
        <p:txBody>
          <a:bodyPr/>
          <a:lstStyle/>
          <a:p>
            <a:r>
              <a:rPr lang="es-AR" dirty="0"/>
              <a:t>Caso productos indeterminados: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063962C-5CA8-44CC-ADD6-DB3A28A2E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74056"/>
            <a:ext cx="10238495" cy="290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93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72FF1-350A-4C59-B35D-B3A291637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94360"/>
            <a:ext cx="9601200" cy="5273040"/>
          </a:xfrm>
        </p:spPr>
        <p:txBody>
          <a:bodyPr/>
          <a:lstStyle/>
          <a:p>
            <a:r>
              <a:rPr lang="es-AR" dirty="0"/>
              <a:t>Caso diferencias indeterminadas: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B35AA41-1690-49CD-9C79-B3B40DABF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29" y="1452086"/>
            <a:ext cx="9742141" cy="395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0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87A5E6-44E2-4004-95FA-9C3FB7A39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41960"/>
            <a:ext cx="9601200" cy="5425440"/>
          </a:xfrm>
        </p:spPr>
        <p:txBody>
          <a:bodyPr/>
          <a:lstStyle/>
          <a:p>
            <a:r>
              <a:rPr lang="es-AR" dirty="0"/>
              <a:t>Caso potencias indeterminadas: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653F4E4-C4A9-4F8A-98DF-D0519EE13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856" y="867727"/>
            <a:ext cx="7634288" cy="571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93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7949A-A1C9-4CC4-9647-2EDAF9D41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Asíntotas oblicuas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027BA87-86D4-4C87-A35E-F35F6D654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7384" y="1479550"/>
            <a:ext cx="3957232" cy="8064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204C60-8D86-4C46-8AD4-D6CBA5E08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190" y="2714560"/>
            <a:ext cx="3817620" cy="342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53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71029-B876-459E-9F81-56E70EB1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F5B0E5-42E4-4B3F-9AAB-AD5979154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851" y="1401127"/>
            <a:ext cx="7698298" cy="51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33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ECB6B-E60A-4A8C-8173-77B6ADBF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98120"/>
            <a:ext cx="9601200" cy="1485900"/>
          </a:xfrm>
        </p:spPr>
        <p:txBody>
          <a:bodyPr/>
          <a:lstStyle/>
          <a:p>
            <a:r>
              <a:rPr lang="es-AR" dirty="0"/>
              <a:t>Problemas de optimización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B3511E2-2A12-4285-B28C-9C6F626DD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0011" y="941070"/>
            <a:ext cx="6624375" cy="288210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391773D-0CE4-4AC5-BF11-4BEF7E8A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653" y="3823176"/>
            <a:ext cx="7400693" cy="256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994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C7339-CAF9-463F-A969-211A6212C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Método de Newton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A3B56AE-AEB2-42E3-B70F-DB2B7EAB85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1645920"/>
                <a:ext cx="9601200" cy="4221480"/>
              </a:xfrm>
            </p:spPr>
            <p:txBody>
              <a:bodyPr/>
              <a:lstStyle/>
              <a:p>
                <a:r>
                  <a:rPr lang="es-AR" dirty="0"/>
                  <a:t>Sirve para aproximar raíces de una función compleja o polinómica de grado &gt; 3</a:t>
                </a:r>
              </a:p>
              <a:p>
                <a:r>
                  <a:rPr lang="es-AR" dirty="0"/>
                  <a:t>Se tiene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A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dirty="0"/>
                  <a:t> inicial en el cual se le hacen iteraciones para aproximar la raíz</a:t>
                </a:r>
              </a:p>
              <a:p>
                <a:r>
                  <a:rPr lang="es-AR" dirty="0"/>
                  <a:t>La formula es: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A3B56AE-AEB2-42E3-B70F-DB2B7EAB85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1645920"/>
                <a:ext cx="9601200" cy="4221480"/>
              </a:xfrm>
              <a:blipFill>
                <a:blip r:embed="rId2"/>
                <a:stretch>
                  <a:fillRect l="-571" t="-115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C427DA45-C427-4170-A277-2565EE78E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701" y="3429000"/>
            <a:ext cx="4664597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79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D3F69-26FD-4FE7-B2A3-50F827E0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Ejemplo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51D046-35FC-4CE6-8B00-F54C92AB3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171700"/>
            <a:ext cx="10104663" cy="26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74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CC5EE-92A6-4702-971C-3186862C0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Antiderivadas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DFC52E9-4A4A-4F4D-B361-5E6C73069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7219" y="1915636"/>
            <a:ext cx="8829962" cy="11018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48F18D4-BAAB-4A3E-9DDB-1F9ED8BCB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959" y="3578384"/>
            <a:ext cx="9400082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1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941CF8-FA7A-4BBA-8909-3969BD177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432" y="1190625"/>
            <a:ext cx="860913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17826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322</TotalTime>
  <Words>220</Words>
  <Application>Microsoft Office PowerPoint</Application>
  <PresentationFormat>Panorámica</PresentationFormat>
  <Paragraphs>50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5" baseType="lpstr">
      <vt:lpstr>Cambria Math</vt:lpstr>
      <vt:lpstr>Franklin Gothic Book</vt:lpstr>
      <vt:lpstr>Recorte</vt:lpstr>
      <vt:lpstr>UNIDAD 5: Aplicaciones de la Derivada</vt:lpstr>
      <vt:lpstr>Aproximación lineal</vt:lpstr>
      <vt:lpstr>Ejemplo</vt:lpstr>
      <vt:lpstr>Diferenciales</vt:lpstr>
      <vt:lpstr>Características</vt:lpstr>
      <vt:lpstr>Valores máximos y mínimos</vt:lpstr>
      <vt:lpstr>Presentación de PowerPoint</vt:lpstr>
      <vt:lpstr>Teorema de Fermat</vt:lpstr>
      <vt:lpstr>¿Como encontrar valores máximos o mínimos?</vt:lpstr>
      <vt:lpstr>Ejemplo</vt:lpstr>
      <vt:lpstr>Teorema de Rolle</vt:lpstr>
      <vt:lpstr>Ejemplo</vt:lpstr>
      <vt:lpstr>Teorema del valor medio</vt:lpstr>
      <vt:lpstr>Ejemplo</vt:lpstr>
      <vt:lpstr>Función derivada respecto a la función original</vt:lpstr>
      <vt:lpstr>Presentación de PowerPoint</vt:lpstr>
      <vt:lpstr>Ejemplo</vt:lpstr>
      <vt:lpstr>Segunda derivada respecto a la función original</vt:lpstr>
      <vt:lpstr>Presentación de PowerPoint</vt:lpstr>
      <vt:lpstr>Ejemplo</vt:lpstr>
      <vt:lpstr>Regla L’Hopital e indeterminaciones</vt:lpstr>
      <vt:lpstr>Ejemplo</vt:lpstr>
      <vt:lpstr>Presentación de PowerPoint</vt:lpstr>
      <vt:lpstr>Presentación de PowerPoint</vt:lpstr>
      <vt:lpstr>Presentación de PowerPoint</vt:lpstr>
      <vt:lpstr>Asíntotas oblicuas</vt:lpstr>
      <vt:lpstr>Ejemplo</vt:lpstr>
      <vt:lpstr>Problemas de optimización</vt:lpstr>
      <vt:lpstr>Método de Newton</vt:lpstr>
      <vt:lpstr>Ejemplo</vt:lpstr>
      <vt:lpstr>Antiderivadas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 (diferencial)</dc:title>
  <dc:creator>jeremiassoto233@gmail.com</dc:creator>
  <cp:lastModifiedBy>jeremiassoto233@gmail.com</cp:lastModifiedBy>
  <cp:revision>39</cp:revision>
  <dcterms:created xsi:type="dcterms:W3CDTF">2026-05-08T23:17:59Z</dcterms:created>
  <dcterms:modified xsi:type="dcterms:W3CDTF">2026-05-17T23:21:45Z</dcterms:modified>
</cp:coreProperties>
</file>