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4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8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78755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710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754452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028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84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469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535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7424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9428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493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548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11/05/2026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235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32B8F-2A04-4889-866A-3FA153EED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Unidad 1: funciones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DD76A0-E5C8-47CA-BE7F-0723DDAA7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606321"/>
          </a:xfrm>
        </p:spPr>
        <p:txBody>
          <a:bodyPr>
            <a:normAutofit lnSpcReduction="10000"/>
          </a:bodyPr>
          <a:lstStyle/>
          <a:p>
            <a:r>
              <a:rPr lang="es-AR" dirty="0"/>
              <a:t>Matemática</a:t>
            </a:r>
          </a:p>
          <a:p>
            <a:r>
              <a:rPr lang="es-AR" dirty="0"/>
              <a:t>1er año</a:t>
            </a:r>
          </a:p>
          <a:p>
            <a:r>
              <a:rPr lang="es-AR" dirty="0"/>
              <a:t>Soto Jeremías</a:t>
            </a:r>
          </a:p>
          <a:p>
            <a:r>
              <a:rPr lang="es-AR" dirty="0"/>
              <a:t>Año 2026</a:t>
            </a:r>
          </a:p>
        </p:txBody>
      </p:sp>
    </p:spTree>
    <p:extLst>
      <p:ext uri="{BB962C8B-B14F-4D97-AF65-F5344CB8AC3E}">
        <p14:creationId xmlns:p14="http://schemas.microsoft.com/office/powerpoint/2010/main" val="2224489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B3DAA-5AE3-488F-B9FF-81975750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Definición de función matemática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1C674E-1855-4749-AD93-9323BFD6C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10" y="1428750"/>
            <a:ext cx="8950779" cy="115252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339CF8F-601A-4CF6-86B9-2109D991E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258" y="2852738"/>
            <a:ext cx="4241882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8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3F07E-DE47-494D-8493-8F75D718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DFFDAF-8E8C-4969-BD9E-8490BE877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63040"/>
            <a:ext cx="9601200" cy="4404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s-AR" dirty="0"/>
              <a:t>Correspondencia única: cada elemento del conjunto de partida tiene solo un correspondiente en el conjunto de llegada.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AR" dirty="0"/>
              <a:t>Variable Independiente (x): el valor que se fija o introduce, definido en el dominio.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AR" dirty="0"/>
              <a:t>Variable Dependiente (y): el valor resultante que depende de la independiente, perteneciente a la imagen.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AR" dirty="0"/>
              <a:t>Notación: generalmente se representa como (y = f(x)).</a:t>
            </a:r>
          </a:p>
        </p:txBody>
      </p:sp>
    </p:spTree>
    <p:extLst>
      <p:ext uri="{BB962C8B-B14F-4D97-AF65-F5344CB8AC3E}">
        <p14:creationId xmlns:p14="http://schemas.microsoft.com/office/powerpoint/2010/main" val="2370255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E563B-D4BB-43B7-A467-AE680A6D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Representación grafica de una función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CA8A9B-5B0E-4705-B55F-7C32ADBF8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0200"/>
            <a:ext cx="9601200" cy="4267200"/>
          </a:xfrm>
        </p:spPr>
        <p:txBody>
          <a:bodyPr/>
          <a:lstStyle/>
          <a:p>
            <a:r>
              <a:rPr lang="es-AR" dirty="0"/>
              <a:t>Sea y=f(x):</a:t>
            </a:r>
          </a:p>
          <a:p>
            <a:r>
              <a:rPr lang="es-AR" dirty="0"/>
              <a:t>Si f es una función con dominio D, entonces su grafica es el conjunto de pares ordenados</a:t>
            </a:r>
          </a:p>
          <a:p>
            <a:pPr marL="0" indent="0">
              <a:buNone/>
            </a:pPr>
            <a:endParaRPr lang="es-AR" dirty="0"/>
          </a:p>
          <a:p>
            <a:r>
              <a:rPr lang="es-AR" dirty="0"/>
              <a:t>Método de sencillo: tabla de valores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E54117-59B7-4C35-B251-742312BF1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535" y="2423160"/>
            <a:ext cx="2858929" cy="662940"/>
          </a:xfrm>
          <a:prstGeom prst="rect">
            <a:avLst/>
          </a:prstGeom>
        </p:spPr>
      </p:pic>
      <p:pic>
        <p:nvPicPr>
          <p:cNvPr id="2056" name="Picture 8" descr="Funciones: Tabla de valores">
            <a:extLst>
              <a:ext uri="{FF2B5EF4-FFF2-40B4-BE49-F238E27FC236}">
                <a16:creationId xmlns:a16="http://schemas.microsoft.com/office/drawing/2014/main" id="{5694C935-C344-4578-BFB8-3CA50D73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450" y="3943351"/>
            <a:ext cx="4281372" cy="2095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114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98DC573-D844-41A8-8972-2CB4F889C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64" y="60409"/>
            <a:ext cx="6178616" cy="336859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CB43902-AED0-4F1E-96E4-4AF65160F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523" y="2910734"/>
            <a:ext cx="4872702" cy="394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365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A50F7-FED8-4557-B7A2-102BF37F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Dominio y rango (imagen)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2E0AB5-7A88-4FEB-8296-5B65DAEDC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13560"/>
            <a:ext cx="9601200" cy="4053840"/>
          </a:xfrm>
        </p:spPr>
        <p:txBody>
          <a:bodyPr/>
          <a:lstStyle/>
          <a:p>
            <a:r>
              <a:rPr lang="es-AR" dirty="0"/>
              <a:t>Gráficamente: sea y=f(x)</a:t>
            </a:r>
          </a:p>
          <a:p>
            <a:endParaRPr lang="es-AR" dirty="0"/>
          </a:p>
        </p:txBody>
      </p:sp>
      <p:pic>
        <p:nvPicPr>
          <p:cNvPr id="3074" name="Picture 2" descr="Dominio y Rango, ejercicios resueltos | Matemóvil">
            <a:extLst>
              <a:ext uri="{FF2B5EF4-FFF2-40B4-BE49-F238E27FC236}">
                <a16:creationId xmlns:a16="http://schemas.microsoft.com/office/drawing/2014/main" id="{965153FB-53B8-4229-9897-5D6B4020B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354" y="2171700"/>
            <a:ext cx="3925691" cy="3601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117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10229-3410-4D4E-B080-0EF4970D5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Dominio analíticamente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3D403C-90E5-43D0-96F6-2F6184EB3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76400"/>
                <a:ext cx="9601200" cy="4191000"/>
              </a:xfrm>
            </p:spPr>
            <p:txBody>
              <a:bodyPr/>
              <a:lstStyle/>
              <a:p>
                <a:r>
                  <a:rPr lang="es-AR" dirty="0"/>
                  <a:t>Se debe cumplir: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endParaRPr lang="es-AR" dirty="0"/>
              </a:p>
              <a:p>
                <a:r>
                  <a:rPr lang="es-AR" dirty="0"/>
                  <a:t>Ejemplo: determinar el dominio de f tal que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s-AR" dirty="0"/>
              </a:p>
              <a:p>
                <a:endParaRPr lang="es-AR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53D403C-90E5-43D0-96F6-2F6184EB3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76400"/>
                <a:ext cx="9601200" cy="4191000"/>
              </a:xfrm>
              <a:blipFill>
                <a:blip r:embed="rId2"/>
                <a:stretch>
                  <a:fillRect l="-571" t="-116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2E2084D0-074F-400A-BA2E-B548FAF7D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377" y="2471738"/>
            <a:ext cx="526732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12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CC78F-1064-4991-A097-0C4DB5BD1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Restricciones de dominio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258FD2E-20A3-471A-AD51-863480FFB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8470" y="1417637"/>
            <a:ext cx="5675060" cy="510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79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1">
            <a:extLst>
              <a:ext uri="{FF2B5EF4-FFF2-40B4-BE49-F238E27FC236}">
                <a16:creationId xmlns:a16="http://schemas.microsoft.com/office/drawing/2014/main" id="{B3C4DF0A-FE5A-4C53-A1DD-515393655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6835" y="508908"/>
            <a:ext cx="7258329" cy="584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82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BEA6D-7262-40CD-8826-EA9BCC8ED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Prueba de la vertical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0D8595-36FB-4A3F-AA69-9925A797E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52600"/>
            <a:ext cx="9601200" cy="4114800"/>
          </a:xfrm>
        </p:spPr>
        <p:txBody>
          <a:bodyPr/>
          <a:lstStyle/>
          <a:p>
            <a:r>
              <a:rPr lang="es-AR" dirty="0"/>
              <a:t>Verifica que una curva o grafica sea realmente una función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C31F1C-4504-4289-A1ED-F4C78122F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29000"/>
            <a:ext cx="3775710" cy="28168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751C541-51D1-4EA3-BCF6-5C7FB3573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177" y="3429000"/>
            <a:ext cx="2950403" cy="28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51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45905-02E2-48D7-BF73-6883C933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A16F170-259D-4E66-A4B6-20BCB6D13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2381" y="1428750"/>
            <a:ext cx="4567238" cy="486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1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E9B04-000C-4519-838A-9EB1048B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a trozos o por partes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CAF741B-12C7-4FF1-8BD1-ED0F3E7F7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0086" y="1978342"/>
            <a:ext cx="3344228" cy="354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7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BC44B-5E89-4BC0-8EA7-911868F1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644374D-61D9-46A7-8506-F88986A0A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536" y="1431290"/>
            <a:ext cx="7018928" cy="446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0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7755A-5E77-47B6-A0B2-3E6B6BE5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Simetría: función par o impar</a:t>
            </a:r>
          </a:p>
        </p:txBody>
      </p:sp>
      <p:pic>
        <p:nvPicPr>
          <p:cNvPr id="5122" name="Picture 2" descr="Cómo saber si una función es par o impar fácilmente">
            <a:extLst>
              <a:ext uri="{FF2B5EF4-FFF2-40B4-BE49-F238E27FC236}">
                <a16:creationId xmlns:a16="http://schemas.microsoft.com/office/drawing/2014/main" id="{8DCD6705-0DB3-4ECE-92B2-F349B096A9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373" y="1428750"/>
            <a:ext cx="4687253" cy="294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945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A7FEF-B7E1-4689-88A4-59BC1898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Simetría par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C6E009-89D4-48EB-BE44-A567997A2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Simétrica respecto al eje 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56EF54B-B3BF-45BF-85E0-867548032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07" y="1428750"/>
            <a:ext cx="3979545" cy="358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13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C6A04-FE52-48A4-8350-6040972B3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Simetría impar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8FDB0C-8EA1-44FF-8301-68E3A29D1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45920"/>
            <a:ext cx="9601200" cy="4221480"/>
          </a:xfrm>
        </p:spPr>
        <p:txBody>
          <a:bodyPr>
            <a:normAutofit lnSpcReduction="10000"/>
          </a:bodyPr>
          <a:lstStyle/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Simétrica respecto al origen de coordenadas (punto (0,0))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E90095-0598-4612-A999-BED3804AB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811" y="1428750"/>
            <a:ext cx="3934778" cy="372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4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FAE54-94F3-4556-820A-6786602F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Crecimiento y decrecimiento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506F324-74C4-4579-AA56-209C5078F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1900" y="1428750"/>
            <a:ext cx="8128199" cy="210631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2700BDA-69FB-4400-ABDE-5FE9D6E05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86" y="3709035"/>
            <a:ext cx="3496628" cy="285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04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BF1C8-9563-4062-8C8C-685844FEF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Modelos matemáticos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8FF65F-01C3-4076-ABF9-8E3B1CE83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93520"/>
            <a:ext cx="9601200" cy="4373880"/>
          </a:xfrm>
        </p:spPr>
        <p:txBody>
          <a:bodyPr/>
          <a:lstStyle/>
          <a:p>
            <a:r>
              <a:rPr lang="es-AR" dirty="0"/>
              <a:t>Descripción matemática por medio de una función de un problema real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Es una idealización, no una representación física precisa</a:t>
            </a:r>
          </a:p>
          <a:p>
            <a:r>
              <a:rPr lang="es-AR" dirty="0"/>
              <a:t>Muchos tipos: lineal, polinomial, </a:t>
            </a:r>
            <a:r>
              <a:rPr lang="es-AR" dirty="0" err="1"/>
              <a:t>etc</a:t>
            </a:r>
            <a:r>
              <a:rPr lang="es-AR" dirty="0"/>
              <a:t>…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496A60-B628-4487-8BF9-9B26D9BD3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0046963" cy="148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69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8FFAD-B1B5-482E-940B-B3457049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lineal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1DDB65-A81C-4CE7-8A7B-CCBE724EB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76400"/>
            <a:ext cx="9601200" cy="4191000"/>
          </a:xfrm>
        </p:spPr>
        <p:txBody>
          <a:bodyPr/>
          <a:lstStyle/>
          <a:p>
            <a:endParaRPr lang="es-AR" dirty="0"/>
          </a:p>
          <a:p>
            <a:r>
              <a:rPr lang="es-AR" dirty="0"/>
              <a:t>Es una recta, donde m= pendiente (inclinación) de la recta y b= ordenada al origen, o intersección de la recta con el eje y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13E4F8-BAE6-4D83-AC60-304C95221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22" y="1380649"/>
            <a:ext cx="3030355" cy="3552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8834383-6765-40BC-B4BB-2D15507BC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029" y="2866549"/>
            <a:ext cx="6195942" cy="240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62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82BC5-DA79-42FD-9500-A2DE058D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/>
          <a:lstStyle/>
          <a:p>
            <a:r>
              <a:rPr lang="es-AR" dirty="0"/>
              <a:t>Ejemplo y características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F68CCC-FB74-4222-BED3-6FAA742E4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90599"/>
            <a:ext cx="9601200" cy="5490757"/>
          </a:xfrm>
        </p:spPr>
        <p:txBody>
          <a:bodyPr>
            <a:normAutofit lnSpcReduction="10000"/>
          </a:bodyPr>
          <a:lstStyle/>
          <a:p>
            <a:r>
              <a:rPr lang="es-AR" dirty="0"/>
              <a:t>                                                                                    </a:t>
            </a:r>
            <a:r>
              <a:rPr lang="es-AR" b="1" dirty="0"/>
              <a:t>Mientras m&gt;0 la recta se inclina                         </a:t>
            </a:r>
          </a:p>
          <a:p>
            <a:r>
              <a:rPr lang="es-AR" b="1" dirty="0"/>
              <a:t>                                                                                    mas al eje y.</a:t>
            </a:r>
          </a:p>
          <a:p>
            <a:endParaRPr lang="es-AR" b="1" dirty="0"/>
          </a:p>
          <a:p>
            <a:r>
              <a:rPr lang="es-AR" b="1" dirty="0"/>
              <a:t>                                                                                    La raíz es el punto donde la recta </a:t>
            </a:r>
          </a:p>
          <a:p>
            <a:r>
              <a:rPr lang="es-AR" b="1" dirty="0"/>
              <a:t>                                                                                    intersecta con el eje x.</a:t>
            </a:r>
          </a:p>
          <a:p>
            <a:endParaRPr lang="es-AR" b="1" dirty="0"/>
          </a:p>
          <a:p>
            <a:r>
              <a:rPr lang="es-AR" b="1" dirty="0"/>
              <a:t>                                                                                    Con tener solo 2 puntos se puede</a:t>
            </a:r>
          </a:p>
          <a:p>
            <a:r>
              <a:rPr lang="es-AR" b="1" dirty="0"/>
              <a:t>                                                                                    graficar.</a:t>
            </a:r>
          </a:p>
          <a:p>
            <a:endParaRPr lang="es-AR" b="1" dirty="0"/>
          </a:p>
          <a:p>
            <a:r>
              <a:rPr lang="es-AR" b="1" dirty="0"/>
              <a:t>                                                                                    Si m&lt;0 la recta se inclina hacia</a:t>
            </a:r>
          </a:p>
          <a:p>
            <a:r>
              <a:rPr lang="es-AR" b="1" dirty="0"/>
              <a:t>                                                                                    abajo.</a:t>
            </a:r>
          </a:p>
          <a:p>
            <a:endParaRPr lang="es-AR" b="1" dirty="0"/>
          </a:p>
          <a:p>
            <a:r>
              <a:rPr lang="es-AR" b="1" dirty="0"/>
              <a:t>                                                                                    Si m=0 la recta es horizontal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2B82C6-B2DD-422A-8D25-59941724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90600"/>
            <a:ext cx="5608320" cy="564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48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5DEB9-54F6-4F5F-A15C-D435BC8B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Polinomio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01BCB35-4EC3-438D-9F39-B876A726B5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371600"/>
                <a:ext cx="9601200" cy="4495800"/>
              </a:xfrm>
            </p:spPr>
            <p:txBody>
              <a:bodyPr/>
              <a:lstStyle/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Donde n es un numero entero no negativo</a:t>
                </a:r>
              </a:p>
              <a:p>
                <a:r>
                  <a:rPr lang="es-AR" dirty="0"/>
                  <a:t>Donde a son coeficientes de la función</a:t>
                </a:r>
              </a:p>
              <a:p>
                <a:r>
                  <a:rPr lang="es-AR" dirty="0"/>
                  <a:t>El dominio de una función polinómica </a:t>
                </a:r>
                <a:r>
                  <a:rPr lang="es-AR" b="1" dirty="0">
                    <a:solidFill>
                      <a:srgbClr val="FF0000"/>
                    </a:solidFill>
                  </a:rPr>
                  <a:t>SIEMPRE</a:t>
                </a:r>
                <a:r>
                  <a:rPr lang="es-AR" dirty="0"/>
                  <a:t> es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𝐷𝑜𝑚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s-AR" dirty="0"/>
              </a:p>
              <a:p>
                <a:r>
                  <a:rPr lang="es-AR" dirty="0"/>
                  <a:t>Si el coeficiente principal es </a:t>
                </a:r>
                <a14:m>
                  <m:oMath xmlns:m="http://schemas.openxmlformats.org/officeDocument/2006/math"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AR" dirty="0"/>
                  <a:t> entonces n es el grado del polinomio</a:t>
                </a:r>
              </a:p>
              <a:p>
                <a:r>
                  <a:rPr lang="es-AR" b="0" dirty="0"/>
                  <a:t>Por ejemplo: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AR" dirty="0"/>
                  <a:t>, el grado del polinomio es = 3</a:t>
                </a:r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01BCB35-4EC3-438D-9F39-B876A726B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371600"/>
                <a:ext cx="9601200" cy="4495800"/>
              </a:xfrm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6C87114E-36CF-41BD-9994-26CB6680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086" y="1618773"/>
            <a:ext cx="8542314" cy="110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71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7A879-2F90-40A1-AE14-512909E2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polinomial de grado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550958F-C981-475F-8674-B98C6AA6A0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584960"/>
                <a:ext cx="9601200" cy="428244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s-AR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AR" dirty="0"/>
                  <a:t> es una función lineal (ya vista anteriormente)</a:t>
                </a:r>
              </a:p>
              <a:p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AR" dirty="0"/>
                  <a:t> es una función cuadrática, con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550958F-C981-475F-8674-B98C6AA6A0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584960"/>
                <a:ext cx="9601200" cy="4282440"/>
              </a:xfrm>
              <a:blipFill>
                <a:blip r:embed="rId2"/>
                <a:stretch>
                  <a:fillRect l="-571" t="-113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B7E7CA7C-70E8-4D3C-A231-800938409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790" y="2808373"/>
            <a:ext cx="2747010" cy="24570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1CE44CB-58EB-43CB-843F-B22D9451A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2" y="2815992"/>
            <a:ext cx="2532418" cy="245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78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06B69-38D6-4D8D-A3EA-B88E0370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0"/>
            <a:ext cx="9601200" cy="1485900"/>
          </a:xfrm>
        </p:spPr>
        <p:txBody>
          <a:bodyPr/>
          <a:lstStyle/>
          <a:p>
            <a:r>
              <a:rPr lang="es-AR" dirty="0"/>
              <a:t>Ejemplo y características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6203A87-35B9-4561-BCBA-978A9447F3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63840" y="1162050"/>
                <a:ext cx="3291840" cy="4821686"/>
              </a:xfrm>
            </p:spPr>
            <p:txBody>
              <a:bodyPr/>
              <a:lstStyle/>
              <a:p>
                <a:r>
                  <a:rPr lang="es-AR" dirty="0"/>
                  <a:t>Siempre es una parábola</a:t>
                </a:r>
              </a:p>
              <a:p>
                <a:r>
                  <a:rPr lang="es-AR" dirty="0"/>
                  <a:t>El signo de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dirty="0"/>
                  <a:t> determina si es cóncava hacia arriba o abajo</a:t>
                </a:r>
              </a:p>
              <a:p>
                <a:r>
                  <a:rPr lang="es-AR" dirty="0"/>
                  <a:t>El vértice es donde la parábola alcanza su punto máximo</a:t>
                </a:r>
              </a:p>
              <a:p>
                <a:r>
                  <a:rPr lang="es-AR" dirty="0"/>
                  <a:t>El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AR" dirty="0"/>
                  <a:t> es la ordenada al origen</a:t>
                </a:r>
              </a:p>
              <a:p>
                <a:r>
                  <a:rPr lang="es-AR" dirty="0"/>
                  <a:t>La raíces determinan si la parábola corta o pasa a través del eje x</a:t>
                </a:r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6203A87-35B9-4561-BCBA-978A9447F3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63840" y="1162050"/>
                <a:ext cx="3291840" cy="4821686"/>
              </a:xfrm>
              <a:blipFill>
                <a:blip r:embed="rId2"/>
                <a:stretch>
                  <a:fillRect l="-1667" t="-1138" r="-111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E8FFBFA0-2871-4357-B66B-94D7D15C1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11" y="838200"/>
            <a:ext cx="6652737" cy="546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59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F7169-18DE-4D99-8E63-2CBC5E27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polinomial grado 3 o mayor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2FC79AA-965E-4E61-B9D4-A0784119EC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15440"/>
                <a:ext cx="9601200" cy="425196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s-AR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A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AR" dirty="0"/>
                  <a:t> es una función cubica, con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>
                    <a:solidFill>
                      <a:srgbClr val="FF0000"/>
                    </a:solidFill>
                  </a:rPr>
                  <a:t>En derivadas se podrán graficar estas funciones polinómicas de grado 3 en adelante</a:t>
                </a:r>
              </a:p>
              <a:p>
                <a:endParaRPr lang="es-AR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2FC79AA-965E-4E61-B9D4-A0784119E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15440"/>
                <a:ext cx="9601200" cy="4251960"/>
              </a:xfrm>
              <a:blipFill>
                <a:blip r:embed="rId2"/>
                <a:stretch>
                  <a:fillRect l="-571" t="-1146" b="-7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A44CE943-F6EF-4939-B6A6-C481B4C53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2045018"/>
            <a:ext cx="2865120" cy="264128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D40F85F-6BD4-4208-9A6F-EE278597E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8663" y="2022157"/>
            <a:ext cx="2422392" cy="26412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40558F4-7A3B-4872-9696-98BF2AE55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719" y="2045017"/>
            <a:ext cx="2584174" cy="264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73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DFDC2-EE79-4D66-B97C-3B482802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Funciones potencia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CA77B33-28D2-47FD-8CA0-636ECCD1F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15440"/>
                <a:ext cx="9601200" cy="512064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s-AR" dirty="0"/>
                  <a:t>, donde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AR" dirty="0"/>
                  <a:t> es una constante</a:t>
                </a:r>
              </a:p>
              <a:p>
                <a:r>
                  <a:rPr lang="es-AR" dirty="0"/>
                  <a:t>Si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AR" dirty="0"/>
                  <a:t> = n, donde n es un numero entero positivo</a:t>
                </a:r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Si n es par es similar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AR" dirty="0"/>
              </a:p>
              <a:p>
                <a:r>
                  <a:rPr lang="es-AR" dirty="0"/>
                  <a:t>Si n es impar es similar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s-AR" dirty="0"/>
              </a:p>
              <a:p>
                <a:r>
                  <a:rPr lang="es-AR" dirty="0"/>
                  <a:t>A medida que el n aumenta la grafica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s-AR" dirty="0"/>
                  <a:t> se conserva mas en la recta y=0 y las ramas de la curva se comprimen mas hacia el eje y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CA77B33-28D2-47FD-8CA0-636ECCD1F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15440"/>
                <a:ext cx="9601200" cy="5120640"/>
              </a:xfrm>
              <a:blipFill>
                <a:blip r:embed="rId2"/>
                <a:stretch>
                  <a:fillRect l="-571" t="-952" b="-8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F837C81B-2088-4FBE-AA7D-BAEA98467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337" y="2507932"/>
            <a:ext cx="100638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48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868FFE9-6CB7-4263-A8D3-CC6E0E5088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350520"/>
                <a:ext cx="9601200" cy="6400800"/>
              </a:xfrm>
            </p:spPr>
            <p:txBody>
              <a:bodyPr/>
              <a:lstStyle/>
              <a:p>
                <a:r>
                  <a:rPr lang="es-AR" dirty="0"/>
                  <a:t>Si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A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s-AR" dirty="0"/>
                  <a:t> , donde n es un numero entero positivo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A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A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A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AR" dirty="0"/>
                  <a:t>, función raíz</a:t>
                </a:r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Todas pasan por el punto (1,1)</a:t>
                </a:r>
              </a:p>
              <a:p>
                <a:r>
                  <a:rPr lang="es-AR" dirty="0"/>
                  <a:t>En el caso de que n sea par el dominio y la imagen de la función 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"/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d>
                          <m:dPr>
                            <m:begChr m:val=""/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e>
                        </m:d>
                      </m:e>
                    </m:d>
                  </m:oMath>
                </a14:m>
                <a:r>
                  <a:rPr lang="es-AR" dirty="0"/>
                  <a:t>, si n es impar el dominio e imagen de la función es </a:t>
                </a:r>
                <a14:m>
                  <m:oMath xmlns:m="http://schemas.openxmlformats.org/officeDocument/2006/math"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s-AR" dirty="0"/>
              </a:p>
              <a:p>
                <a:r>
                  <a:rPr lang="es-AR" dirty="0"/>
                  <a:t>A medida que el n aumenta la grafica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AR" i="1"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AR" dirty="0"/>
                  <a:t> se conserva mas en la recta x=0 y la/s rama/s de la curva se comprimen mas hacia el eje x</a:t>
                </a:r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868FFE9-6CB7-4263-A8D3-CC6E0E508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350520"/>
                <a:ext cx="9601200" cy="6400800"/>
              </a:xfrm>
              <a:blipFill>
                <a:blip r:embed="rId2"/>
                <a:stretch>
                  <a:fillRect l="-571" r="-25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2B442F85-8B96-49CC-9ACF-E38533E92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571" y="1519237"/>
            <a:ext cx="6946858" cy="226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37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E29166C-B132-4149-BAA9-A10B1CA2DD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289560"/>
                <a:ext cx="9601200" cy="6248400"/>
              </a:xfrm>
            </p:spPr>
            <p:txBody>
              <a:bodyPr/>
              <a:lstStyle/>
              <a:p>
                <a:r>
                  <a:rPr lang="es-AR" dirty="0"/>
                  <a:t>Si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AR"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AR" dirty="0"/>
                  <a:t>, entonces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s-AR" dirty="0"/>
                  <a:t> se llama función reciproca</a:t>
                </a:r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E29166C-B132-4149-BAA9-A10B1CA2DD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289560"/>
                <a:ext cx="9601200" cy="6248400"/>
              </a:xfrm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AB4D9709-7B54-4A97-91C0-78DC61923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924877"/>
            <a:ext cx="3200400" cy="409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05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6F02C-6730-477E-A8A2-F2198FD1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racional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FF5CC83-9997-430F-8534-FBD1D21B1C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524000"/>
                <a:ext cx="9601200" cy="4343400"/>
              </a:xfrm>
            </p:spPr>
            <p:txBody>
              <a:bodyPr/>
              <a:lstStyle/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Cociente de dos polinomios P y Q, donde el dominio de f son los valores de x tales que Q(x) </a:t>
                </a:r>
                <a14:m>
                  <m:oMath xmlns:m="http://schemas.openxmlformats.org/officeDocument/2006/math"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FF5CC83-9997-430F-8534-FBD1D21B1C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524000"/>
                <a:ext cx="9601200" cy="4343400"/>
              </a:xfrm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6B4F5849-A110-4D27-B8D1-84F69A03A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333" y="1524000"/>
            <a:ext cx="2601334" cy="11420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2C3475A-3584-4B6A-A921-2C76762B2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279" y="3504249"/>
            <a:ext cx="2338388" cy="307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30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F5E29-2F51-469B-BAA8-EA57D664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algebraica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E5A5B1-6EC9-49AF-BA9D-5C67F63E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84960"/>
            <a:ext cx="9601200" cy="4282440"/>
          </a:xfrm>
        </p:spPr>
        <p:txBody>
          <a:bodyPr/>
          <a:lstStyle/>
          <a:p>
            <a:r>
              <a:rPr lang="es-AR" dirty="0"/>
              <a:t>Función que utiliza operaciones algebraicas</a:t>
            </a:r>
          </a:p>
          <a:p>
            <a:r>
              <a:rPr lang="es-AR" dirty="0"/>
              <a:t>Suma, resta, producto, cociente, raíz</a:t>
            </a:r>
          </a:p>
          <a:p>
            <a:r>
              <a:rPr lang="es-AR" dirty="0"/>
              <a:t>Una función racional es una función algebraica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33E486-F570-4D60-90FE-43459BB0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434" y="3070860"/>
            <a:ext cx="800753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22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8F895-A20A-467E-B908-3C9751AC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Funciones trigonométricas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7BEE073-5DA5-4C71-A76D-96E867EAC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569720"/>
                <a:ext cx="9601200" cy="4297680"/>
              </a:xfrm>
            </p:spPr>
            <p:txBody>
              <a:bodyPr/>
              <a:lstStyle/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El dominio es </a:t>
                </a:r>
                <a14:m>
                  <m:oMath xmlns:m="http://schemas.openxmlformats.org/officeDocument/2006/math">
                    <m:r>
                      <a:rPr lang="es-A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AR" dirty="0"/>
                  <a:t> pero la imagen 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</m:oMath>
                </a14:m>
                <a:endParaRPr lang="es-AR" dirty="0"/>
              </a:p>
              <a:p>
                <a:r>
                  <a:rPr lang="es-AR" dirty="0"/>
                  <a:t>Ambas tienen periodo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AR" dirty="0"/>
                  <a:t>, es decir que la curva se repite cada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s-AR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7BEE073-5DA5-4C71-A76D-96E867EAC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569720"/>
                <a:ext cx="9601200" cy="4297680"/>
              </a:xfrm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5CA7C344-FCF3-4B54-A562-BB85A8F6B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65" y="1613534"/>
            <a:ext cx="10406870" cy="210502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038B7D9-3856-49F6-BBB4-F2ECA78F6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041" y="5288280"/>
            <a:ext cx="7807917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349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97AE74-B249-45DD-BCA3-2FB129E935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365760"/>
                <a:ext cx="9601200" cy="5501640"/>
              </a:xfrm>
            </p:spPr>
            <p:txBody>
              <a:bodyPr/>
              <a:lstStyle/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Tiene periodo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AR" dirty="0"/>
                  <a:t>, es decir que la curva se repite cada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A97AE74-B249-45DD-BCA3-2FB129E935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365760"/>
                <a:ext cx="9601200" cy="5501640"/>
              </a:xfrm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A452159C-F109-4965-9D5D-1730B0A3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657" y="365760"/>
            <a:ext cx="2151085" cy="7934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15A6825-3A91-42B3-A0B4-375FC888D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115" y="1159193"/>
            <a:ext cx="3553778" cy="37695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3F32216-A766-4AD5-9616-E1DA01631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566" y="5867400"/>
            <a:ext cx="2838868" cy="58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55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26B5A-FA6E-4B7A-8C85-44660EC4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exponencial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39ABB6-2DD0-4CBC-9F03-2039933A8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524476"/>
            <a:ext cx="9601200" cy="4312920"/>
          </a:xfrm>
        </p:spPr>
        <p:txBody>
          <a:bodyPr/>
          <a:lstStyle/>
          <a:p>
            <a:endParaRPr lang="es-AR" dirty="0"/>
          </a:p>
          <a:p>
            <a:r>
              <a:rPr lang="es-AR" dirty="0"/>
              <a:t>Donde b es una constante positiva</a:t>
            </a:r>
          </a:p>
          <a:p>
            <a:r>
              <a:rPr lang="es-AR" dirty="0"/>
              <a:t>Si 0&lt;b&lt;1 la función es decreciente</a:t>
            </a:r>
          </a:p>
          <a:p>
            <a:r>
              <a:rPr lang="es-AR" dirty="0"/>
              <a:t>Si b=1 la función es horizontal (constante)</a:t>
            </a:r>
          </a:p>
          <a:p>
            <a:r>
              <a:rPr lang="es-AR" dirty="0"/>
              <a:t>Si b&gt;1 la función es creciente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33FB02-1AF6-4DFB-9D25-781E4AD5F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32" y="1554480"/>
            <a:ext cx="1596936" cy="46577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B8C2473-56D7-4404-BD59-BFF124260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306" y="3789046"/>
            <a:ext cx="8041403" cy="238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31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573233-89B0-47F8-9803-705B7B090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87680"/>
            <a:ext cx="9601200" cy="6141720"/>
          </a:xfrm>
        </p:spPr>
        <p:txBody>
          <a:bodyPr/>
          <a:lstStyle/>
          <a:p>
            <a:r>
              <a:rPr lang="es-AR" dirty="0"/>
              <a:t>A medida que b aumenta la curva tiende mas al eje y, en cambio si desciende la cuerva tendera mas al eje x</a:t>
            </a:r>
          </a:p>
          <a:p>
            <a:r>
              <a:rPr lang="es-AR" dirty="0"/>
              <a:t>El numero e: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Tiene pendiente m=1</a:t>
            </a:r>
          </a:p>
          <a:p>
            <a:r>
              <a:rPr lang="es-AR" dirty="0"/>
              <a:t>Todas las funciones exponenciales pasan a través del punto (0,1)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10FF8E-D5C4-4CEA-A5B4-8CAAD97F2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837" y="1520189"/>
            <a:ext cx="3362325" cy="31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89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1BDC2-92AF-4A4E-A72C-034F9417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logarítmica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D4A94BD-60E6-4C01-8879-C0C777DCEE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78280"/>
                <a:ext cx="9601200" cy="4389120"/>
              </a:xfrm>
            </p:spPr>
            <p:txBody>
              <a:bodyPr/>
              <a:lstStyle/>
              <a:p>
                <a:r>
                  <a:rPr lang="es-AR" dirty="0"/>
                  <a:t>Dada por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A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s-AR" dirty="0"/>
              </a:p>
              <a:p>
                <a:r>
                  <a:rPr lang="es-AR" dirty="0"/>
                  <a:t>Donde a es una constante positiva</a:t>
                </a:r>
              </a:p>
              <a:p>
                <a:r>
                  <a:rPr lang="es-AR" dirty="0"/>
                  <a:t>Si a&gt;1 la función es creciente</a:t>
                </a:r>
              </a:p>
              <a:p>
                <a:r>
                  <a:rPr lang="es-AR" dirty="0"/>
                  <a:t>Si a=0 la función es horizontal (constante)</a:t>
                </a:r>
              </a:p>
              <a:p>
                <a:r>
                  <a:rPr lang="es-AR" dirty="0"/>
                  <a:t>Si 0&lt;a&lt;1 la función es decreciente</a:t>
                </a:r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D4A94BD-60E6-4C01-8879-C0C777DCEE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78280"/>
                <a:ext cx="9601200" cy="4389120"/>
              </a:xfrm>
              <a:blipFill>
                <a:blip r:embed="rId2"/>
                <a:stretch>
                  <a:fillRect l="-571" t="-125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32BAD963-3F05-4E1D-AB79-45F42188F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67" y="3815715"/>
            <a:ext cx="3476625" cy="27146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44079F4-0EAE-4EEB-B34E-24DB2783E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092" y="3853815"/>
            <a:ext cx="3362325" cy="27146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A619C8D-8BD1-4C05-86A2-F04A406F1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225" y="4381500"/>
            <a:ext cx="3227859" cy="164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71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3BF6DA6-CAD2-4AC8-B796-0430BE1D43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594360"/>
                <a:ext cx="9601200" cy="5715000"/>
              </a:xfrm>
            </p:spPr>
            <p:txBody>
              <a:bodyPr/>
              <a:lstStyle/>
              <a:p>
                <a:r>
                  <a:rPr lang="es-AR" dirty="0"/>
                  <a:t>A medida que a aumenta o desciende la curva tiende mas al eje x, en cambio si la cuerva se acerca al valor 1 en 0&lt;a&lt;1 tiende mas al eje y</a:t>
                </a:r>
              </a:p>
              <a:p>
                <a:r>
                  <a:rPr lang="es-AR" dirty="0"/>
                  <a:t>El logaritmo natural:</a:t>
                </a:r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La única restricción del dominio es que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𝐷𝑜𝑚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s-AR" dirty="0"/>
                  <a:t>, es decir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"/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d>
                          <m:dPr>
                            <m:begChr m:val=""/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e>
                        </m:d>
                      </m:e>
                    </m:d>
                  </m:oMath>
                </a14:m>
                <a:endParaRPr lang="es-AR" dirty="0"/>
              </a:p>
              <a:p>
                <a:r>
                  <a:rPr lang="es-AR" dirty="0"/>
                  <a:t>Todas las funciones logarítmicas pasan por el punto (1,0)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3BF6DA6-CAD2-4AC8-B796-0430BE1D43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594360"/>
                <a:ext cx="9601200" cy="5715000"/>
              </a:xfrm>
              <a:blipFill>
                <a:blip r:embed="rId2"/>
                <a:stretch>
                  <a:fillRect l="-571" t="-9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B0108084-2441-42A2-97D4-3A6A54BEA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606" y="1816417"/>
            <a:ext cx="3442788" cy="95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96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CA81D-3249-4BA0-95BD-E47F9928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Transformación de funciones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BB064B-1DC2-410A-9A5B-BA9A9DF98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91640"/>
            <a:ext cx="9601200" cy="4175760"/>
          </a:xfrm>
        </p:spPr>
        <p:txBody>
          <a:bodyPr/>
          <a:lstStyle/>
          <a:p>
            <a:r>
              <a:rPr lang="es-AR" dirty="0"/>
              <a:t>Traslaciones: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2C5024-03A9-4A34-9B77-E92D151EF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745" y="2171700"/>
            <a:ext cx="8104909" cy="326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52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6D9EC6-60B1-4DB4-B1A1-63CACD26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701040"/>
            <a:ext cx="9601200" cy="5166360"/>
          </a:xfrm>
        </p:spPr>
        <p:txBody>
          <a:bodyPr/>
          <a:lstStyle/>
          <a:p>
            <a:endParaRPr lang="es-AR" dirty="0"/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6D58B1-C7B4-49E7-B6F5-A13DA20E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950" y="600551"/>
            <a:ext cx="6622343" cy="565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778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C0914D-F57E-4517-B8A0-45C6A19C8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41960"/>
            <a:ext cx="9601200" cy="5425440"/>
          </a:xfrm>
        </p:spPr>
        <p:txBody>
          <a:bodyPr/>
          <a:lstStyle/>
          <a:p>
            <a:r>
              <a:rPr lang="es-AR" dirty="0"/>
              <a:t>Reflexiones y estiramientos: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C9B060-605D-4FDA-B749-E22F86D47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961" y="1464468"/>
            <a:ext cx="9264906" cy="357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113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5FEE65A-6767-4C87-8824-9CF8B3BCC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1298" y="415242"/>
            <a:ext cx="6649403" cy="602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716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9117-A413-44EA-A8C7-FBE38C12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Algebra de funciones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1FC1408-3BB9-44B2-B9C6-29BD711F68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76400"/>
                <a:ext cx="9601200" cy="4191000"/>
              </a:xfrm>
            </p:spPr>
            <p:txBody>
              <a:bodyPr/>
              <a:lstStyle/>
              <a:p>
                <a:r>
                  <a:rPr lang="es-AR" dirty="0"/>
                  <a:t>Sean dos funciones f y g:</a:t>
                </a:r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El dominio de la función suma/resta es la intersección del dominio de f(x) con g(x)</a:t>
                </a:r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El dominio de la función producto es la intersección del dominio de f(x) con g(x)</a:t>
                </a:r>
              </a:p>
              <a:p>
                <a:r>
                  <a:rPr lang="es-AR" dirty="0"/>
                  <a:t>El dominio de la función división 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𝐷𝑜𝑚𝑓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𝐷𝑜𝑚𝑔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: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)≠0</m:t>
                        </m:r>
                      </m:e>
                    </m:d>
                  </m:oMath>
                </a14:m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1FC1408-3BB9-44B2-B9C6-29BD711F68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76400"/>
                <a:ext cx="9601200" cy="4191000"/>
              </a:xfrm>
              <a:blipFill>
                <a:blip r:embed="rId2"/>
                <a:stretch>
                  <a:fillRect l="-571" t="-116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D4BAD34E-4A27-4440-9D12-381648012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954" y="2171700"/>
            <a:ext cx="7298492" cy="5438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02F9F1E-3DF7-4A54-BF9E-86E571245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774" y="3557112"/>
            <a:ext cx="6004452" cy="111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192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14F8A-23EE-4082-9027-A93F71F1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Combinación de funciones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B6A2933-2402-4AE3-9B50-677EAF5FD2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569720"/>
                <a:ext cx="9601200" cy="4297680"/>
              </a:xfrm>
            </p:spPr>
            <p:txBody>
              <a:bodyPr/>
              <a:lstStyle/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El dominio de la función compuesta 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𝐷𝑜𝑚𝑔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: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A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𝐷𝑜𝑚𝑓</m:t>
                        </m:r>
                      </m:e>
                    </m:d>
                  </m:oMath>
                </a14:m>
                <a:r>
                  <a:rPr lang="es-AR" dirty="0"/>
                  <a:t> </a:t>
                </a:r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B6A2933-2402-4AE3-9B50-677EAF5FD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569720"/>
                <a:ext cx="9601200" cy="4297680"/>
              </a:xfrm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E89D3F4E-6538-4B39-B0D9-91AF69590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271" y="1699260"/>
            <a:ext cx="8827129" cy="14859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9FE8909-44CF-4D8E-9A11-764F0F134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821" y="3718561"/>
            <a:ext cx="7432358" cy="265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296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25580-125F-49FD-A057-7A76B639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inyectiva, sobreyectiva y biyectiva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F230D6C-A030-44E4-8BA3-3CB55855B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2011680"/>
                <a:ext cx="9601200" cy="4846320"/>
              </a:xfrm>
            </p:spPr>
            <p:txBody>
              <a:bodyPr>
                <a:normAutofit/>
              </a:bodyPr>
              <a:lstStyle/>
              <a:p>
                <a:r>
                  <a:rPr lang="es-AR" dirty="0"/>
                  <a:t>Inyectiva: No hay dos elementos del dominio con la misma imagen.</a:t>
                </a:r>
              </a:p>
              <a:p>
                <a:r>
                  <a:rPr lang="es-AR" dirty="0"/>
                  <a:t>Es decir,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−→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1≠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s-AR" b="0" dirty="0">
                  <a:ea typeface="Cambria Math" panose="02040503050406030204" pitchFamily="18" charset="0"/>
                </a:endParaRPr>
              </a:p>
              <a:p>
                <a:endParaRPr lang="es-AR" b="0" dirty="0">
                  <a:ea typeface="Cambria Math" panose="02040503050406030204" pitchFamily="18" charset="0"/>
                </a:endParaRPr>
              </a:p>
              <a:p>
                <a:endParaRPr lang="es-AR" dirty="0">
                  <a:ea typeface="Cambria Math" panose="02040503050406030204" pitchFamily="18" charset="0"/>
                </a:endParaRPr>
              </a:p>
              <a:p>
                <a:endParaRPr lang="es-AR" b="0" dirty="0">
                  <a:ea typeface="Cambria Math" panose="02040503050406030204" pitchFamily="18" charset="0"/>
                </a:endParaRPr>
              </a:p>
              <a:p>
                <a:endParaRPr lang="es-AR" dirty="0">
                  <a:ea typeface="Cambria Math" panose="02040503050406030204" pitchFamily="18" charset="0"/>
                </a:endParaRPr>
              </a:p>
              <a:p>
                <a:endParaRPr lang="es-AR" b="0" dirty="0">
                  <a:ea typeface="Cambria Math" panose="02040503050406030204" pitchFamily="18" charset="0"/>
                </a:endParaRPr>
              </a:p>
              <a:p>
                <a:endParaRPr lang="es-AR" b="0" dirty="0">
                  <a:ea typeface="Cambria Math" panose="02040503050406030204" pitchFamily="18" charset="0"/>
                </a:endParaRPr>
              </a:p>
              <a:p>
                <a:endParaRPr lang="es-AR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F230D6C-A030-44E4-8BA3-3CB55855B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2011680"/>
                <a:ext cx="9601200" cy="4846320"/>
              </a:xfrm>
              <a:blipFill>
                <a:blip r:embed="rId2"/>
                <a:stretch>
                  <a:fillRect l="-571" t="-10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B5EE66F7-F56C-4857-867A-54A3C0714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404" y="2983578"/>
            <a:ext cx="3388995" cy="34054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240E2EF-6F95-4A95-ACE0-4EB00DA87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805" y="2983578"/>
            <a:ext cx="3388995" cy="353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61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9702B7-AE0D-48AE-8EED-699129BDC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79120"/>
            <a:ext cx="9601200" cy="6111240"/>
          </a:xfrm>
        </p:spPr>
        <p:txBody>
          <a:bodyPr/>
          <a:lstStyle/>
          <a:p>
            <a:r>
              <a:rPr lang="es-AR" dirty="0"/>
              <a:t>Sobreyectiva: El rango es igual al codominio. No sobran elementos en el conjunto de llegada.</a:t>
            </a:r>
          </a:p>
          <a:p>
            <a:r>
              <a:rPr lang="es-AR" dirty="0"/>
              <a:t>Es decir, cada recta horizontal debe al menos cortar una vez en la grafica de la función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Biyectiva: Si es inyectiva y sobreyectiva en simultaneo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69CFE18-B03F-4FCA-AA36-9314A9CD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133" y="1941962"/>
            <a:ext cx="3965734" cy="371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73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34136-50DD-47B7-A010-29A61583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inversa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476CC4-75D2-42A6-9F6A-7EBE594E2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84960"/>
            <a:ext cx="9601200" cy="4282440"/>
          </a:xfrm>
        </p:spPr>
        <p:txBody>
          <a:bodyPr/>
          <a:lstStyle/>
          <a:p>
            <a:endParaRPr lang="es-AR" dirty="0"/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5ABED4-ABEB-44EA-B5B6-8A3A735C0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1" y="1428750"/>
            <a:ext cx="8296279" cy="19145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0B0A9F0-70C9-484E-A7DD-A73147BA0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104" y="3756660"/>
            <a:ext cx="8625296" cy="232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237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60A72-3FC3-441A-8E5A-B365E96EF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0"/>
            <a:ext cx="9601200" cy="1485900"/>
          </a:xfrm>
        </p:spPr>
        <p:txBody>
          <a:bodyPr/>
          <a:lstStyle/>
          <a:p>
            <a:r>
              <a:rPr lang="es-AR" dirty="0"/>
              <a:t>Ejemplo y características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CA0DD8-016A-4A44-ABD3-A54BE7A7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320" y="1523999"/>
            <a:ext cx="9601200" cy="5059681"/>
          </a:xfrm>
        </p:spPr>
        <p:txBody>
          <a:bodyPr>
            <a:normAutofit/>
          </a:bodyPr>
          <a:lstStyle/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La grafica de la función inversa se obtiene reflejando la grafica de la función original a través de la recta y=x</a:t>
            </a:r>
          </a:p>
          <a:p>
            <a:r>
              <a:rPr lang="es-AR" dirty="0"/>
              <a:t>Son simétricas respecto a y=x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58D54BD-A886-4924-9559-9225365C8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958" y="742951"/>
            <a:ext cx="6360878" cy="411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515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79247-AAA3-43A4-AAB8-77739A0C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Aplicaciones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D4C9BD-C12D-4E6B-AAF0-9E291CB0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0200"/>
            <a:ext cx="9601200" cy="4267200"/>
          </a:xfrm>
        </p:spPr>
        <p:txBody>
          <a:bodyPr/>
          <a:lstStyle/>
          <a:p>
            <a:r>
              <a:rPr lang="es-AR" dirty="0"/>
              <a:t>Como sabemos calcular el dominio, la imagen de una función de forma analítica es entonces: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Ecuaciones de cancelación: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B271D6-A8CD-4E31-A95B-5015DE1E1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55" y="2171700"/>
            <a:ext cx="5055290" cy="14859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7AFEF83-2B65-4CBB-B586-08BEA2638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355" y="4084320"/>
            <a:ext cx="521753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453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27DA5-1D5A-4B04-8A52-3E09593A3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AB6AB8B-D522-4A2D-9676-A3E1E0A50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8913" y="1571228"/>
            <a:ext cx="8426573" cy="371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705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276E9-9B71-4511-9F31-3B1380166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Inversas trigonométricas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518F19-2917-47D7-97D7-FFB0044FE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84960"/>
            <a:ext cx="9601200" cy="4282440"/>
          </a:xfrm>
        </p:spPr>
        <p:txBody>
          <a:bodyPr/>
          <a:lstStyle/>
          <a:p>
            <a:r>
              <a:rPr lang="es-AR" dirty="0"/>
              <a:t>Como las funciones seno, coseno y tangente no son inyectivas, se restringe el dominio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F49734-3811-4236-98F3-413D812AA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75717"/>
            <a:ext cx="3027045" cy="24016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A007488-0473-4E7C-865F-2858B5F53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136" y="2435444"/>
            <a:ext cx="2766060" cy="28375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E803975-E440-4349-B525-34D749DD3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687" y="2209388"/>
            <a:ext cx="2293621" cy="328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148066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261</TotalTime>
  <Words>1234</Words>
  <Application>Microsoft Office PowerPoint</Application>
  <PresentationFormat>Panorámica</PresentationFormat>
  <Paragraphs>260</Paragraphs>
  <Slides>48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2" baseType="lpstr">
      <vt:lpstr>Cambria Math</vt:lpstr>
      <vt:lpstr>Franklin Gothic Book</vt:lpstr>
      <vt:lpstr>Wingdings</vt:lpstr>
      <vt:lpstr>Recorte</vt:lpstr>
      <vt:lpstr>Unidad 1: funciones</vt:lpstr>
      <vt:lpstr>Definición de función matemática</vt:lpstr>
      <vt:lpstr>Características</vt:lpstr>
      <vt:lpstr>Representación grafica de una función</vt:lpstr>
      <vt:lpstr>Presentación de PowerPoint</vt:lpstr>
      <vt:lpstr>Dominio y rango (imagen)</vt:lpstr>
      <vt:lpstr>Dominio analíticamente</vt:lpstr>
      <vt:lpstr>Restricciones de dominio</vt:lpstr>
      <vt:lpstr>Presentación de PowerPoint</vt:lpstr>
      <vt:lpstr>Prueba de la vertical</vt:lpstr>
      <vt:lpstr>Ejemplo</vt:lpstr>
      <vt:lpstr>Función a trozos o por partes</vt:lpstr>
      <vt:lpstr>Ejemplo</vt:lpstr>
      <vt:lpstr>Simetría: función par o impar</vt:lpstr>
      <vt:lpstr>Simetría par</vt:lpstr>
      <vt:lpstr>Simetría impar</vt:lpstr>
      <vt:lpstr>Crecimiento y decrecimiento</vt:lpstr>
      <vt:lpstr>Modelos matemáticos</vt:lpstr>
      <vt:lpstr>Función lineal</vt:lpstr>
      <vt:lpstr>Ejemplo y características</vt:lpstr>
      <vt:lpstr>Polinomio</vt:lpstr>
      <vt:lpstr>Función polinomial de grado 2</vt:lpstr>
      <vt:lpstr>Ejemplo y características</vt:lpstr>
      <vt:lpstr>Función polinomial grado 3 o mayor</vt:lpstr>
      <vt:lpstr>Funciones potencia</vt:lpstr>
      <vt:lpstr>Presentación de PowerPoint</vt:lpstr>
      <vt:lpstr>Presentación de PowerPoint</vt:lpstr>
      <vt:lpstr>Función racional</vt:lpstr>
      <vt:lpstr>Función algebraica</vt:lpstr>
      <vt:lpstr>Funciones trigonométricas</vt:lpstr>
      <vt:lpstr>Presentación de PowerPoint</vt:lpstr>
      <vt:lpstr>Función exponencial</vt:lpstr>
      <vt:lpstr>Presentación de PowerPoint</vt:lpstr>
      <vt:lpstr>Función logarítmica</vt:lpstr>
      <vt:lpstr>Presentación de PowerPoint</vt:lpstr>
      <vt:lpstr>Transformación de funciones</vt:lpstr>
      <vt:lpstr>Presentación de PowerPoint</vt:lpstr>
      <vt:lpstr>Presentación de PowerPoint</vt:lpstr>
      <vt:lpstr>Presentación de PowerPoint</vt:lpstr>
      <vt:lpstr>Algebra de funciones</vt:lpstr>
      <vt:lpstr>Combinación de funciones</vt:lpstr>
      <vt:lpstr>Función inyectiva, sobreyectiva y biyectiva</vt:lpstr>
      <vt:lpstr>Presentación de PowerPoint</vt:lpstr>
      <vt:lpstr>Función inversa</vt:lpstr>
      <vt:lpstr>Ejemplo y características</vt:lpstr>
      <vt:lpstr>Aplicaciones</vt:lpstr>
      <vt:lpstr>Ejemplo</vt:lpstr>
      <vt:lpstr>Inversas trigonométricas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Calculo I (diferencial)</dc:title>
  <dc:creator>jeremiassoto233@gmail.com</dc:creator>
  <cp:lastModifiedBy>jeremiassoto233@gmail.com</cp:lastModifiedBy>
  <cp:revision>33</cp:revision>
  <dcterms:created xsi:type="dcterms:W3CDTF">2026-05-08T23:17:59Z</dcterms:created>
  <dcterms:modified xsi:type="dcterms:W3CDTF">2026-05-11T21:10:11Z</dcterms:modified>
</cp:coreProperties>
</file>