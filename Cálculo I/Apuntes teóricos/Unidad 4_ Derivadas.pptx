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8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78755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710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5445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028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84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469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535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742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42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493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54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15/05/2026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235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32B8F-2A04-4889-866A-3FA153EED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UNIDAD 4:</a:t>
            </a:r>
            <a:br>
              <a:rPr lang="es-AR" dirty="0"/>
            </a:br>
            <a:r>
              <a:rPr lang="es-AR" dirty="0"/>
              <a:t>Derivadas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DD76A0-E5C8-47CA-BE7F-0723DDAA7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606321"/>
          </a:xfrm>
        </p:spPr>
        <p:txBody>
          <a:bodyPr>
            <a:normAutofit lnSpcReduction="10000"/>
          </a:bodyPr>
          <a:lstStyle/>
          <a:p>
            <a:r>
              <a:rPr lang="es-AR" dirty="0"/>
              <a:t>Matemática</a:t>
            </a:r>
          </a:p>
          <a:p>
            <a:r>
              <a:rPr lang="es-AR" dirty="0"/>
              <a:t>1er año</a:t>
            </a:r>
          </a:p>
          <a:p>
            <a:r>
              <a:rPr lang="es-AR" dirty="0"/>
              <a:t>Soto Jeremías</a:t>
            </a:r>
          </a:p>
          <a:p>
            <a:r>
              <a:rPr lang="es-AR" dirty="0"/>
              <a:t>Año 2026</a:t>
            </a:r>
          </a:p>
        </p:txBody>
      </p:sp>
    </p:spTree>
    <p:extLst>
      <p:ext uri="{BB962C8B-B14F-4D97-AF65-F5344CB8AC3E}">
        <p14:creationId xmlns:p14="http://schemas.microsoft.com/office/powerpoint/2010/main" val="222448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B1A52-10DD-4AC0-89C0-F2BC957C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Rectas tangentes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188AC-06A8-484C-BE57-24540FEA0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0200"/>
            <a:ext cx="9601200" cy="4267200"/>
          </a:xfrm>
        </p:spPr>
        <p:txBody>
          <a:bodyPr/>
          <a:lstStyle/>
          <a:p>
            <a:r>
              <a:rPr lang="es-AR" dirty="0"/>
              <a:t>Ecuación de la pendiente de una recta secante:</a:t>
            </a:r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Donde (a) es el punto donde se quiere encontrar la pendiente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8A545E-8C8A-46AF-BBA0-9680F10E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07" y="2171700"/>
            <a:ext cx="2764110" cy="7791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B49055C-F690-42F1-891F-195A5C606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659" y="3522346"/>
            <a:ext cx="8107082" cy="232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1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374F37A-169C-485F-9593-B8A98B33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4" y="324802"/>
            <a:ext cx="3815715" cy="33776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E8C02-4D1D-482F-925F-3CBA6CE6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563" y="3429000"/>
            <a:ext cx="3580702" cy="31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4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6FF1C-D89D-47CD-A0F8-C435C9EE2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02920"/>
            <a:ext cx="9601200" cy="5364480"/>
          </a:xfrm>
        </p:spPr>
        <p:txBody>
          <a:bodyPr/>
          <a:lstStyle/>
          <a:p>
            <a:r>
              <a:rPr lang="es-AR" dirty="0"/>
              <a:t>Otra notación: si h = x – a entonces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CDACBD-7FF3-4BFB-B5E9-91156B213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759" y="990600"/>
            <a:ext cx="5320482" cy="15859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7AD3784-07DC-4829-8718-581504C2D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472" y="3010463"/>
            <a:ext cx="4031456" cy="285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9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85122-945A-4CC0-B052-ECC7E7D5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Ejemplo: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8CD2550-88CD-4E61-8823-BA97294CB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101" y="1401445"/>
            <a:ext cx="6837797" cy="50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2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1888A-7B26-433C-8B8F-0C2AF433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Derivada de una función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5CB813A-48A8-4A73-8296-A59E7652F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588" y="1428750"/>
            <a:ext cx="8040823" cy="21612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419906E-857F-4625-B395-F145E22BA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689" y="3857626"/>
            <a:ext cx="5674622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2DD90-9399-47E7-8CAE-C216685D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Derivadas por definición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C8BF21-AE6C-412F-8402-299D78E40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9601200" cy="4038600"/>
          </a:xfrm>
        </p:spPr>
        <p:txBody>
          <a:bodyPr/>
          <a:lstStyle/>
          <a:p>
            <a:r>
              <a:rPr lang="es-AR" dirty="0"/>
              <a:t>Se utiliza la definición de la derivada de una función para calcular derivadas de funciones: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4FBCBE-F60F-461F-8070-EF8F7FF33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941" y="2428208"/>
            <a:ext cx="7036118" cy="412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46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BD40F6E-41EB-4911-B603-DE44F4B5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558" y="248602"/>
            <a:ext cx="8514884" cy="11229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648A8E-0E51-4DDA-A4DD-C643ABFEB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501" y="1643062"/>
            <a:ext cx="7718998" cy="11229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D45A741-FF8D-4FCC-8941-DE3DD212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895" y="3037522"/>
            <a:ext cx="3966210" cy="365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3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C273C-8DA0-4A39-98C2-A78C8007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Razón de cambio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BA6004-C1BE-40FB-B6AB-83FDAD2D5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67840"/>
            <a:ext cx="9601200" cy="4099560"/>
          </a:xfrm>
        </p:spPr>
        <p:txBody>
          <a:bodyPr/>
          <a:lstStyle/>
          <a:p>
            <a:r>
              <a:rPr lang="es-AR" dirty="0"/>
              <a:t>Se define como el incremento en x: </a:t>
            </a:r>
          </a:p>
          <a:p>
            <a:r>
              <a:rPr lang="es-AR" dirty="0"/>
              <a:t>Y el incremento en y:</a:t>
            </a:r>
          </a:p>
          <a:p>
            <a:endParaRPr lang="es-AR" dirty="0"/>
          </a:p>
          <a:p>
            <a:r>
              <a:rPr lang="es-AR" dirty="0"/>
              <a:t>Entonces el cociente de los incrementos: 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255830-ABED-4B57-8EC2-3234F4C10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052" y="1660207"/>
            <a:ext cx="2533882" cy="6867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563EB60-940E-4D96-87F0-F23D8BAA2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044" y="2279333"/>
            <a:ext cx="2590653" cy="47434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3D1E8B-F555-49CA-904E-63EA4D9CF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704" y="3039427"/>
            <a:ext cx="2878140" cy="8634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E9BFE69-4546-48EF-AE79-B6D795C46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095" y="4370784"/>
            <a:ext cx="8972209" cy="122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2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C0C0C8B-2F20-4233-B332-C41BAB76B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108" y="268604"/>
            <a:ext cx="4141783" cy="31603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7096C0F-688B-41E9-A55A-B361CAB19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77" y="3947160"/>
            <a:ext cx="7899845" cy="10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0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C3CD3-24AD-4974-AF62-E6471292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derivada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C66EBA3-EF82-49CB-855F-4B4C10AB3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320" y="1611391"/>
            <a:ext cx="9512847" cy="363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42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C80E9DC-1B05-4DFE-B339-EA9F6C98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505" y="648652"/>
            <a:ext cx="9459626" cy="13325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5DD0B80-AA1A-4A64-B6FF-3AE187D4F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610" y="3429000"/>
            <a:ext cx="7116779" cy="99345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CF6C370-9690-4289-9E6B-DAAD30FE665E}"/>
              </a:ext>
            </a:extLst>
          </p:cNvPr>
          <p:cNvSpPr txBox="1"/>
          <p:nvPr/>
        </p:nvSpPr>
        <p:spPr>
          <a:xfrm>
            <a:off x="1386840" y="2392680"/>
            <a:ext cx="8976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dirty="0"/>
              <a:t>Otras notaciones de la derivada</a:t>
            </a:r>
          </a:p>
        </p:txBody>
      </p:sp>
    </p:spTree>
    <p:extLst>
      <p:ext uri="{BB962C8B-B14F-4D97-AF65-F5344CB8AC3E}">
        <p14:creationId xmlns:p14="http://schemas.microsoft.com/office/powerpoint/2010/main" val="2578009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85A5E-6B51-4C92-990C-31A40D56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Teoremas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556C271-69C2-4B11-9F03-1010460E4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942" y="1524793"/>
            <a:ext cx="8244623" cy="12938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FE45A7-2964-4471-B8A5-730005506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872" y="3429000"/>
            <a:ext cx="8787535" cy="9009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3173657-AF75-4214-85A7-0D9B8DCA539E}"/>
              </a:ext>
            </a:extLst>
          </p:cNvPr>
          <p:cNvSpPr txBox="1"/>
          <p:nvPr/>
        </p:nvSpPr>
        <p:spPr>
          <a:xfrm>
            <a:off x="2027872" y="4617134"/>
            <a:ext cx="740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</a:rPr>
              <a:t>El inverso de este teorema no es cierto, ya que hay funciones que son continuas pero sin embargo no son derivables</a:t>
            </a:r>
          </a:p>
        </p:txBody>
      </p:sp>
    </p:spTree>
    <p:extLst>
      <p:ext uri="{BB962C8B-B14F-4D97-AF65-F5344CB8AC3E}">
        <p14:creationId xmlns:p14="http://schemas.microsoft.com/office/powerpoint/2010/main" val="2335129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3B4F3-DA20-472E-85D1-29944933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Casos de no derivabilidad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4C4BC38-BB55-47D6-93B5-184D229CF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868300"/>
            <a:ext cx="2947988" cy="312139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D8DADC1-A521-4DC9-AB30-C45EE6B3C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046" y="1868300"/>
            <a:ext cx="3167302" cy="32332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1D8ABFF-0D2C-4B38-890F-E3F90F639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806" y="1969320"/>
            <a:ext cx="2898957" cy="30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66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BFBD1-B9D8-4793-B9B5-04C15F47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Derivadas superiores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F98560C-147E-4A94-9A7D-121E192E8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4386" y="1428750"/>
            <a:ext cx="3115628" cy="15654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7A73052-8D1B-4B9F-A82D-C165460C0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511" y="3202359"/>
            <a:ext cx="4900978" cy="106965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590897E-C35A-4579-B9D0-1F4DFBA7D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210" y="4664977"/>
            <a:ext cx="3769579" cy="140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69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9CFF3-F771-4ED7-88D4-4C6E7F29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01EC9B4-BA72-42A2-B526-A35B61902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564" y="1581150"/>
            <a:ext cx="9037271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44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E3267-529A-4F80-91C9-8FD4F5EE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Reglas de derivación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D99476AB-663E-4068-8B5F-82B12B7FD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724025"/>
            <a:ext cx="9779479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26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F1AD684-CA90-48C5-90BC-625A73548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28" y="374332"/>
            <a:ext cx="9098342" cy="35575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CB1E7D0-C503-4509-BF46-4A99A71E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28" y="4511040"/>
            <a:ext cx="3627882" cy="14020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BD7945A-AF7F-4BCC-80F7-EC1E9D561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19" y="4622482"/>
            <a:ext cx="3822902" cy="129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51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254BFBC-05FC-489B-965B-BB65629B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58" y="182542"/>
            <a:ext cx="8244619" cy="33988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764FD20-2246-40F0-A87A-459CEC3C3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058" y="3746182"/>
            <a:ext cx="8325521" cy="276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67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689C850-B06F-496C-A71C-4B33E7B3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268" y="226695"/>
            <a:ext cx="8279464" cy="32023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4099058-67C0-461C-8DAD-859F208DB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842" y="3495674"/>
            <a:ext cx="4703278" cy="13908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25E701-613B-4D86-8ADB-64D320A9E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925" y="3495674"/>
            <a:ext cx="4157206" cy="15487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582C93-A96A-49AD-9FD1-DB6534FC7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682" y="5044439"/>
            <a:ext cx="4106014" cy="158686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9749EA8-4042-4893-8523-925C66665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852" y="5044438"/>
            <a:ext cx="4570167" cy="158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00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F6E45-F2BC-4190-906C-2293EFD5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Derivación implícita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856683-9898-4DD2-B69F-5689B9DCE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131" y="1428750"/>
            <a:ext cx="8910136" cy="9715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7CEB87-6FF5-4BF0-8A5A-2E65510E9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321" y="2559893"/>
            <a:ext cx="7051358" cy="413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29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15450FB-58EB-4BEE-BD9A-1DF3D6BA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12" y="0"/>
            <a:ext cx="7510586" cy="42519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713A9A-778A-4E6F-A2B0-1971CD82D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873" y="4251960"/>
            <a:ext cx="8488254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72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6E81A3E-DA60-47D5-96CD-4AF062DFA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17" y="187864"/>
            <a:ext cx="6273166" cy="648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89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9DE59-52C9-4612-A373-958FDEC7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Derivación logarítmica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EF50E9-F98D-4553-8A00-7CA285FC6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86" y="1617344"/>
            <a:ext cx="8959427" cy="7753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F73EA85-1FF6-4BE6-9534-1989839C3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494" y="2908459"/>
            <a:ext cx="8957419" cy="233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7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2F96C-0C4A-4715-87CF-55A544CD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FD63F7E-F724-4744-8A34-9CB0E7E68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0850" y="1428750"/>
            <a:ext cx="6210300" cy="320865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DD2358-13D2-44C1-8C4E-D5A478641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47" y="4637405"/>
            <a:ext cx="6077903" cy="176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36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3A47287-F6E5-4F14-B26A-4F51E34F73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1599" y="213360"/>
                <a:ext cx="9601200" cy="1485900"/>
              </a:xfrm>
            </p:spPr>
            <p:txBody>
              <a:bodyPr/>
              <a:lstStyle/>
              <a:p>
                <a:r>
                  <a:rPr lang="es-AR" dirty="0"/>
                  <a:t>El numero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s-AR" dirty="0"/>
                  <a:t> como un limite</a:t>
                </a:r>
              </a:p>
            </p:txBody>
          </p:sp>
        </mc:Choice>
        <mc:Fallback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3A47287-F6E5-4F14-B26A-4F51E34F7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1599" y="213360"/>
                <a:ext cx="9601200" cy="1485900"/>
              </a:xfrm>
              <a:blipFill>
                <a:blip r:embed="rId2"/>
                <a:stretch>
                  <a:fillRect l="-2540" t="-131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976560C-691B-40B9-8907-74F3537D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0722" y="957977"/>
            <a:ext cx="4211265" cy="10306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50978ED-9A61-41BF-AD32-584411FDF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510" y="1988582"/>
            <a:ext cx="5256979" cy="473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30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BCB78F5-5611-4A2C-B0B3-1B1C38CB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373" y="180022"/>
            <a:ext cx="4687253" cy="16644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0E071D-A5FC-4683-B4AD-801113BC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871" y="2127884"/>
            <a:ext cx="6967544" cy="11944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E7F0FD8-3877-40BE-91AB-0200898E9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784" y="3605729"/>
            <a:ext cx="6330272" cy="2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283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219</TotalTime>
  <Words>146</Words>
  <Application>Microsoft Office PowerPoint</Application>
  <PresentationFormat>Panorámica</PresentationFormat>
  <Paragraphs>32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Cambria Math</vt:lpstr>
      <vt:lpstr>Franklin Gothic Book</vt:lpstr>
      <vt:lpstr>Recorte</vt:lpstr>
      <vt:lpstr>UNIDAD 4: Derivadas</vt:lpstr>
      <vt:lpstr>Rectas tangentes</vt:lpstr>
      <vt:lpstr>Presentación de PowerPoint</vt:lpstr>
      <vt:lpstr>Presentación de PowerPoint</vt:lpstr>
      <vt:lpstr>Ejemplo:</vt:lpstr>
      <vt:lpstr>Derivada de una función</vt:lpstr>
      <vt:lpstr>Derivadas por definición</vt:lpstr>
      <vt:lpstr>Presentación de PowerPoint</vt:lpstr>
      <vt:lpstr>Razón de cambio</vt:lpstr>
      <vt:lpstr>Presentación de PowerPoint</vt:lpstr>
      <vt:lpstr>Función derivada</vt:lpstr>
      <vt:lpstr>Presentación de PowerPoint</vt:lpstr>
      <vt:lpstr>Teoremas</vt:lpstr>
      <vt:lpstr>Casos de no derivabilidad</vt:lpstr>
      <vt:lpstr>Derivadas superiores</vt:lpstr>
      <vt:lpstr>Ejemplo</vt:lpstr>
      <vt:lpstr>Reglas de derivación</vt:lpstr>
      <vt:lpstr>Presentación de PowerPoint</vt:lpstr>
      <vt:lpstr>Presentación de PowerPoint</vt:lpstr>
      <vt:lpstr>Presentación de PowerPoint</vt:lpstr>
      <vt:lpstr>Derivación implícita</vt:lpstr>
      <vt:lpstr>Presentación de PowerPoint</vt:lpstr>
      <vt:lpstr>Presentación de PowerPoint</vt:lpstr>
      <vt:lpstr>Derivación logarítmica</vt:lpstr>
      <vt:lpstr>Ejemplo</vt:lpstr>
      <vt:lpstr>El numero e como un limite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 (diferencial)</dc:title>
  <dc:creator>jeremiassoto233@gmail.com</dc:creator>
  <cp:lastModifiedBy>jeremiassoto233@gmail.com</cp:lastModifiedBy>
  <cp:revision>27</cp:revision>
  <dcterms:created xsi:type="dcterms:W3CDTF">2026-05-08T23:17:59Z</dcterms:created>
  <dcterms:modified xsi:type="dcterms:W3CDTF">2026-05-15T23:40:28Z</dcterms:modified>
</cp:coreProperties>
</file>